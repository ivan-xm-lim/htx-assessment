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Average"/>
      <p:regular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9272E7-9423-4602-AC7F-493D05C1132A}">
  <a:tblStyle styleId="{159272E7-9423-4602-AC7F-493D05C1132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Oswal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Average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d92e302fa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cd92e302fa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cd92e302fa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d92e302fa_2_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cd92e302fa_2_1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cd92e302fa_2_1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d92e302fa_2_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cd92e302fa_2_3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cd92e302fa_2_3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d92e302fa_2_4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d92e302fa_2_4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cd92e302fa_2_4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d92e302fa_0_2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cd92e302fa_0_25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cd92e302fa_0_25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d92e302fa_2_8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cd92e302fa_2_8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 of individual tutor preference scores for each student they are assigned, divided by the total number of new students</a:t>
            </a:r>
            <a:endParaRPr/>
          </a:p>
        </p:txBody>
      </p:sp>
      <p:sp>
        <p:nvSpPr>
          <p:cNvPr id="166" name="Google Shape;166;g3cd92e302fa_2_8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d92e302fa_2_10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cd92e302fa_2_10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cd92e302fa_2_10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d92e302fa_2_12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cd92e302fa_2_12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cd92e302fa_2_12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d92e302fa_2_14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cd92e302fa_2_14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cd92e302fa_2_14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d92e302fa_2_1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cd92e302fa_2_16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cd92e302fa_2_16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d92e302fa_2_19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cd92e302fa_2_19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cd92e302fa_2_19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cd92e302fa_2_2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cd92e302fa_2_2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cd92e302fa_2_2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731520" y="1840235"/>
            <a:ext cx="76809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i="0" lang="en-GB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Tutor–Student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i="0" lang="en-GB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Assignment Optimization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731520" y="35661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HTX xData Technical Assessment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731520" y="4069080"/>
            <a:ext cx="10972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Ivan Lim  |  March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45"/>
              </a:buClr>
              <a:buSzPts val="3200"/>
              <a:buFont typeface="Georgia"/>
              <a:buNone/>
            </a:pPr>
            <a:r>
              <a:rPr b="1" i="0" lang="en-GB" sz="3200" u="none" cap="none" strike="noStrike">
                <a:solidFill>
                  <a:srgbClr val="141C45"/>
                </a:solidFill>
                <a:latin typeface="Georgia"/>
                <a:ea typeface="Georgia"/>
                <a:cs typeface="Georgia"/>
                <a:sym typeface="Georgia"/>
              </a:rPr>
              <a:t>Problem Overview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tutoring organisation assigns new students to tutors each month, respecting skill requirements, capacity limits, and tutor branch preferences.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640080" y="1874520"/>
            <a:ext cx="246888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640080" y="1874520"/>
            <a:ext cx="24688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640080" y="210312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4000"/>
              <a:buFont typeface="Georgia"/>
              <a:buNone/>
            </a:pPr>
            <a:r>
              <a:rPr b="1" i="0" lang="en-GB" sz="4000" u="none" cap="none" strike="noStrike">
                <a:solidFill>
                  <a:srgbClr val="3B82F6"/>
                </a:solidFill>
                <a:latin typeface="Georgia"/>
                <a:ea typeface="Georgia"/>
                <a:cs typeface="Georgia"/>
                <a:sym typeface="Georgia"/>
              </a:rPr>
              <a:t>20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640080" y="26974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New Students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914400" y="306324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branches</a:t>
            </a:r>
            <a:r>
              <a:rPr b="0" i="0" lang="en-GB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, 2 need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Extensive tutoring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429000" y="1874520"/>
            <a:ext cx="246888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3429000" y="1874520"/>
            <a:ext cx="246888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3429000" y="210312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4000"/>
              <a:buFont typeface="Georgia"/>
              <a:buNone/>
            </a:pPr>
            <a:r>
              <a:rPr b="1" i="0" lang="en-GB" sz="4000" u="none" cap="none" strike="noStrike">
                <a:solidFill>
                  <a:srgbClr val="059669"/>
                </a:solidFill>
                <a:latin typeface="Georgia"/>
                <a:ea typeface="Georgia"/>
                <a:cs typeface="Georgia"/>
                <a:sym typeface="Georgia"/>
              </a:rPr>
              <a:t>10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29000" y="26974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Tutors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3703320" y="306324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with Extensive skills,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capacity 3–8 each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6217920" y="1874520"/>
            <a:ext cx="246888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6217920" y="1874520"/>
            <a:ext cx="246888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6217920" y="210312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4000"/>
              <a:buFont typeface="Georgia"/>
              <a:buNone/>
            </a:pPr>
            <a:r>
              <a:rPr b="1" i="0" lang="en-GB" sz="40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12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6217920" y="26974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Existing Students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6492240" y="306324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Active assignments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from prior months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640080" y="4023360"/>
            <a:ext cx="3794760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868680" y="411480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Scenario A:</a:t>
            </a:r>
            <a:endParaRPr b="1" sz="13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Minimise tutors used + maximise </a:t>
            </a:r>
            <a:r>
              <a:rPr lang="en-GB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tutor preferences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4709160" y="4023360"/>
            <a:ext cx="3794760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4937760" y="411480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Scenario B:</a:t>
            </a:r>
            <a:br>
              <a:rPr b="1" i="0" lang="en-GB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Balance tutor workload + maximise </a:t>
            </a:r>
            <a:r>
              <a:rPr lang="en-GB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tutor preferences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45"/>
              </a:buClr>
              <a:buSzPts val="3200"/>
              <a:buFont typeface="Georgia"/>
              <a:buNone/>
            </a:pPr>
            <a:r>
              <a:rPr b="1" i="0" lang="en-GB" sz="3200" u="none" cap="none" strike="noStrike">
                <a:solidFill>
                  <a:srgbClr val="141C45"/>
                </a:solidFill>
                <a:latin typeface="Georgia"/>
                <a:ea typeface="Georgia"/>
                <a:cs typeface="Georgia"/>
                <a:sym typeface="Georgia"/>
              </a:rPr>
              <a:t>Variables &amp; Parameters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914400" y="117043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Decision Variable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914400" y="14630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baseline="-25000" lang="en-GB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s,t</a:t>
            </a:r>
            <a:r>
              <a:rPr b="1" i="0" lang="en-GB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∈ {0, 1}    for all students s, tutors 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1" name="Google Shape;101;p16"/>
          <p:cNvGraphicFramePr/>
          <p:nvPr/>
        </p:nvGraphicFramePr>
        <p:xfrm>
          <a:off x="64008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{159272E7-9423-4602-AC7F-493D05C1132A}</a:tableStyleId>
              </a:tblPr>
              <a:tblGrid>
                <a:gridCol w="1280150"/>
                <a:gridCol w="3840475"/>
                <a:gridCol w="27432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GB" sz="130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Symbol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C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GB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C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GB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C45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onsolas"/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</a:t>
                      </a:r>
                      <a:r>
                        <a:rPr baseline="-25000" lang="en-GB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endParaRPr baseline="-25000"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 level for tutor </a:t>
                      </a:r>
                      <a:r>
                        <a:rPr i="1"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i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= Normal, 1 = Extensive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onsolas"/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</a:t>
                      </a:r>
                      <a:r>
                        <a:rPr baseline="-25000" lang="en-GB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baseline="-25000"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Tutoring need for student </a:t>
                      </a:r>
                      <a:r>
                        <a:rPr i="1"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endParaRPr i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= Normal, 1 = Extensive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onsolas"/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</a:t>
                      </a:r>
                      <a:r>
                        <a:rPr baseline="-25000" lang="en-GB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s,t</a:t>
                      </a:r>
                      <a:endParaRPr baseline="-25000"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Preference score of tutor </a:t>
                      </a:r>
                      <a:r>
                        <a:rPr i="1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for student </a:t>
                      </a:r>
                      <a:r>
                        <a:rPr i="1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's branch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= 1st choice, 1 = 2nd, 0 = other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onsolas"/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r>
                        <a:rPr baseline="-25000" lang="en-GB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endParaRPr baseline="-25000"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Maximum overall capacity (MOC) of tutor </a:t>
                      </a:r>
                      <a:r>
                        <a:rPr i="1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i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Integer, ≥ 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onsolas"/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r>
                        <a:rPr baseline="-25000" lang="en-GB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endParaRPr baseline="-25000"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e</a:t>
                      </a: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xisting </a:t>
                      </a:r>
                      <a:r>
                        <a:rPr b="1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active </a:t>
                      </a: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students assigned to tutor </a:t>
                      </a:r>
                      <a:r>
                        <a:rPr i="1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i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Integer, ≥ 0, ≤ m(t)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" name="Google Shape;102;p16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50"/>
              <a:buFont typeface="Calibri"/>
              <a:buNone/>
            </a:pPr>
            <a:r>
              <a:rPr b="1" i="0" lang="en-GB" sz="11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Auxiliary:  </a:t>
            </a:r>
            <a:r>
              <a:rPr b="0" i="0" lang="en-GB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aseline="-25000" lang="en-GB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GB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∈ {0,1} — tutor activation indicator (Scenario A)    |    d</a:t>
            </a:r>
            <a:r>
              <a:rPr baseline="-25000" lang="en-GB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GB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≥ 0 — workload deviation (Scenario B)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45"/>
              </a:buClr>
              <a:buSzPts val="3200"/>
              <a:buFont typeface="Georgia"/>
              <a:buNone/>
            </a:pPr>
            <a:r>
              <a:rPr b="1" i="0" lang="en-GB" sz="3200" u="none" cap="none" strike="noStrike">
                <a:solidFill>
                  <a:srgbClr val="141C45"/>
                </a:solidFill>
                <a:latin typeface="Georgia"/>
                <a:ea typeface="Georgia"/>
                <a:cs typeface="Georgia"/>
                <a:sym typeface="Georgia"/>
              </a:rPr>
              <a:t>Constraints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640080" y="84124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GB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Core constraints (both scenarios)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640080" y="1188720"/>
            <a:ext cx="64008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960120" y="1353312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960120" y="13533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1645920" y="126187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One tutor per student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1645920" y="15544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student is assigned exactly one tutor.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5394960" y="1280160"/>
            <a:ext cx="2926080" cy="59436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5394960" y="1280160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C45"/>
              </a:buClr>
              <a:buSzPts val="1050"/>
              <a:buFont typeface="Consolas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640080" y="2148840"/>
            <a:ext cx="78638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640080" y="2148840"/>
            <a:ext cx="64008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960120" y="2313432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960120" y="23134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1645920" y="222199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Skill compatibility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1645920" y="25146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Extensive-need students can only go to Extensive-skill tutors.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5394960" y="2240280"/>
            <a:ext cx="2926080" cy="59436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5394960" y="2240280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C45"/>
              </a:buClr>
              <a:buSzPts val="1050"/>
              <a:buFont typeface="Consolas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640080" y="3108960"/>
            <a:ext cx="78638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640080" y="3108960"/>
            <a:ext cx="64008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960120" y="3273552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960120" y="32735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1645920" y="31821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Capacity limit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1645920" y="34747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New assignments cannot exceed a tutor's remaining capacity.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5394960" y="3200400"/>
            <a:ext cx="2926080" cy="59436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5394960" y="3200400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C45"/>
              </a:buClr>
              <a:buSzPts val="1050"/>
              <a:buFont typeface="Consolas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\sum\limits_t x_{s,t} = 1\; \forall s \in S" id="134" name="Google Shape;134;p17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7124" y="1373937"/>
            <a:ext cx="2001778" cy="50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_{s,t} = 0 \; \text{if}\; n_s &gt; k_t" id="135" name="Google Shape;135;p17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5213" y="2336400"/>
            <a:ext cx="2365576" cy="402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um\limits_{s} x_{s,t} \leq m_t - e_t \; \forall t \in T" id="136" name="Google Shape;136;p17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8013" y="3337550"/>
            <a:ext cx="2539998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/>
          <p:nvPr/>
        </p:nvSpPr>
        <p:spPr>
          <a:xfrm>
            <a:off x="640080" y="36576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45"/>
              </a:buClr>
              <a:buSzPts val="3200"/>
              <a:buFont typeface="Georgia"/>
              <a:buNone/>
            </a:pPr>
            <a:r>
              <a:rPr b="1" i="0" lang="en-GB" sz="3200" u="none" cap="none" strike="noStrike">
                <a:solidFill>
                  <a:srgbClr val="141C45"/>
                </a:solidFill>
                <a:latin typeface="Georgia"/>
                <a:ea typeface="Georgia"/>
                <a:cs typeface="Georgia"/>
                <a:sym typeface="Georgia"/>
              </a:rPr>
              <a:t>Constraint</a:t>
            </a:r>
            <a:r>
              <a:rPr b="1" lang="en-GB" sz="3200">
                <a:solidFill>
                  <a:srgbClr val="141C45"/>
                </a:solidFill>
                <a:latin typeface="Georgia"/>
                <a:ea typeface="Georgia"/>
                <a:cs typeface="Georgia"/>
                <a:sym typeface="Georgia"/>
              </a:rPr>
              <a:t>s (Scenario A)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640080" y="841248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-GB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Replacement for common constraint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640080" y="1188720"/>
            <a:ext cx="7863900" cy="8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640080" y="1188720"/>
            <a:ext cx="63900" cy="8229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960120" y="1353312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960120" y="13533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1645920" y="1261872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lang="en-GB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Capacity limit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1645920" y="1554480"/>
            <a:ext cx="347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GB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New </a:t>
            </a:r>
            <a:r>
              <a:rPr lang="en-GB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cannot exceed a tutor’s remaining capacity.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5394960" y="1280160"/>
            <a:ext cx="2926200" cy="5943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5394960" y="1280160"/>
            <a:ext cx="2926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C45"/>
              </a:buClr>
              <a:buSzPts val="1050"/>
              <a:buFont typeface="Consolas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640080" y="2148840"/>
            <a:ext cx="7863900" cy="8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640080" y="2148840"/>
            <a:ext cx="63900" cy="8229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960120" y="2313432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960120" y="23134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1645920" y="2221992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lang="en-GB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Restriction of value of y</a:t>
            </a:r>
            <a:r>
              <a:rPr b="1" baseline="-25000" lang="en-GB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baseline="-2500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5394960" y="2240280"/>
            <a:ext cx="2926200" cy="5943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394960" y="2240280"/>
            <a:ext cx="2926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C45"/>
              </a:buClr>
              <a:buSzPts val="1050"/>
              <a:buFont typeface="Consolas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640075" y="4160524"/>
            <a:ext cx="7863900" cy="409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200"/>
              </a:srgbClr>
            </a:outerShdw>
          </a:effectLst>
        </p:spPr>
        <p:txBody>
          <a:bodyPr anchorCtr="0" anchor="t" bIns="0" lIns="0" spcFirstLastPara="1" rIns="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Scenario A </a:t>
            </a:r>
            <a:r>
              <a:rPr lang="en-GB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introduces a new auxiliary variable, y</a:t>
            </a:r>
            <a:r>
              <a:rPr baseline="-25000" lang="en-GB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GB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, which represents tutor assignment.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\sum\limits_{s} x_{s,t} \leq (m_t - e_t)y_t \; \forall t \in T" id="160" name="Google Shape;160;p18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6651" y="1372551"/>
            <a:ext cx="2642800" cy="4096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um\limits_{s} x_{s,t} \geq y_t \; \forall t \in T" id="161" name="Google Shape;161;p18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9334" y="2308896"/>
            <a:ext cx="1955934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/>
          <p:nvPr/>
        </p:nvSpPr>
        <p:spPr>
          <a:xfrm>
            <a:off x="1668832" y="2496205"/>
            <a:ext cx="347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GB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Restricts y</a:t>
            </a:r>
            <a:r>
              <a:rPr baseline="-25000" lang="en-GB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GB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from being 1 if no students are assigned to </a:t>
            </a:r>
            <a:r>
              <a:rPr i="1" lang="en-GB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GB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45"/>
              </a:buClr>
              <a:buSzPts val="3200"/>
              <a:buFont typeface="Georgia"/>
              <a:buNone/>
            </a:pPr>
            <a:r>
              <a:rPr b="1" i="0" lang="en-GB" sz="3200" u="none" cap="none" strike="noStrike">
                <a:solidFill>
                  <a:srgbClr val="141C45"/>
                </a:solidFill>
                <a:latin typeface="Georgia"/>
                <a:ea typeface="Georgia"/>
                <a:cs typeface="Georgia"/>
                <a:sym typeface="Georgia"/>
              </a:rPr>
              <a:t>Objective Functions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Common metric — </a:t>
            </a:r>
            <a:r>
              <a:rPr b="0" i="0" lang="en-GB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Normalised tutor preference satisfaction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640075" y="1417326"/>
            <a:ext cx="7863900" cy="658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640080" y="2240280"/>
            <a:ext cx="37947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640080" y="2240280"/>
            <a:ext cx="3794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868680" y="2377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Scenario 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868680" y="267004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Minimise tutor usage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868680" y="3063240"/>
            <a:ext cx="3337560" cy="5029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868680" y="374904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onsolas"/>
              <a:buNone/>
            </a:pPr>
            <a:r>
              <a:rPr b="1" i="0" lang="en-GB" sz="14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min  α·Ũ − (1−α)·P̃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4709160" y="2240280"/>
            <a:ext cx="37947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4709160" y="2240280"/>
            <a:ext cx="3794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Scenario 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4937760" y="267004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Balance relative workload  ρ(t) = total students / capacity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4937760" y="3063240"/>
            <a:ext cx="3337560" cy="5029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4937760" y="374904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onsolas"/>
              <a:buNone/>
            </a:pPr>
            <a:r>
              <a:rPr b="1" i="0" lang="en-GB" sz="14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min  α·F̃ − (1−α)·P̃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α ∈ [0, 1] </a:t>
            </a:r>
            <a:r>
              <a:rPr b="0" i="0" lang="en-GB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controls the trade-off.  α = 0.5 balances both objectives equally.  All metrics normalised to [0, 1] for fair weighting.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\tilde{P} = \frac{1}{2|S|} \cdot \sum\limits_{s \in S}\sum\limits_{t \in T} q_{s,t}x_{s,t}" id="184" name="Google Shape;184;p19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1516200"/>
            <a:ext cx="2743200" cy="57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tilde{U} = \frac{1}{|T|} \cdot \sum\limits_{t \in T} y_t" id="185" name="Google Shape;185;p19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4062" y="3095264"/>
            <a:ext cx="1506798" cy="50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tilde{F} = \frac{1}{|T|} \cdot \sum\limits_{t \in T}|\rho_t - \bar{\rho}|" id="186" name="Google Shape;186;p19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3863" y="3086100"/>
            <a:ext cx="1885356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45"/>
              </a:buClr>
              <a:buSzPts val="3200"/>
              <a:buFont typeface="Georgia"/>
              <a:buNone/>
            </a:pPr>
            <a:r>
              <a:rPr b="1" i="0" lang="en-GB" sz="3200" u="none" cap="none" strike="noStrike">
                <a:solidFill>
                  <a:srgbClr val="141C45"/>
                </a:solidFill>
                <a:latin typeface="Georgia"/>
                <a:ea typeface="Georgia"/>
                <a:cs typeface="Georgia"/>
                <a:sym typeface="Georgia"/>
              </a:rPr>
              <a:t>Results — Scenario 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640080" y="1097280"/>
            <a:ext cx="25146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640080" y="1188720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4400"/>
              <a:buFont typeface="Georgia"/>
              <a:buNone/>
            </a:pPr>
            <a:r>
              <a:rPr b="1" i="0" lang="en-GB" sz="4400" u="none" cap="none" strike="noStrike">
                <a:solidFill>
                  <a:srgbClr val="3B82F6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640080" y="182880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Tutors Used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640080" y="210312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out of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3429000" y="1097280"/>
            <a:ext cx="25146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3429000" y="1188720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4400"/>
              <a:buFont typeface="Georgia"/>
              <a:buNone/>
            </a:pPr>
            <a:r>
              <a:rPr b="1" i="0" lang="en-GB" sz="4400" u="none" cap="none" strike="noStrike">
                <a:solidFill>
                  <a:srgbClr val="059669"/>
                </a:solidFill>
                <a:latin typeface="Georgia"/>
                <a:ea typeface="Georgia"/>
                <a:cs typeface="Georgia"/>
                <a:sym typeface="Georgia"/>
              </a:rPr>
              <a:t>39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3429000" y="182880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Preference Score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3429000" y="210312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out of 40 (97.5%)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6217920" y="1097280"/>
            <a:ext cx="25146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6217920" y="1188720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400"/>
              <a:buFont typeface="Georgia"/>
              <a:buNone/>
            </a:pPr>
            <a:r>
              <a:rPr b="1" i="0" lang="en-GB" sz="44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0%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6217920" y="182880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Optimality Gap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6217920" y="210312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globally optimal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640080" y="2834640"/>
            <a:ext cx="7863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640080" y="2834640"/>
            <a:ext cx="64008" cy="2011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960120" y="2926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960120" y="3246120"/>
            <a:ext cx="73152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GB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Only 4 tutors (A001, A002, A009, A010) needed to serve all 20 students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GB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19 of 20 students assigned to a tutor's 1st-choice branch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GB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One Extensive-need student (S0006) assigned to 2nd-choice branch — no Extensive-skill tutor has North as 1st choice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GB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Solution is robust: identical result for all values of α (see sensitivity analysis)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45"/>
              </a:buClr>
              <a:buSzPts val="3200"/>
              <a:buFont typeface="Georgia"/>
              <a:buNone/>
            </a:pPr>
            <a:r>
              <a:rPr b="1" i="0" lang="en-GB" sz="3200" u="none" cap="none" strike="noStrike">
                <a:solidFill>
                  <a:srgbClr val="141C45"/>
                </a:solidFill>
                <a:latin typeface="Georgia"/>
                <a:ea typeface="Georgia"/>
                <a:cs typeface="Georgia"/>
                <a:sym typeface="Georgia"/>
              </a:rPr>
              <a:t>Results — Scenario B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640080" y="1097280"/>
            <a:ext cx="25146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640080" y="1188720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4400"/>
              <a:buFont typeface="Georgia"/>
              <a:buNone/>
            </a:pPr>
            <a:r>
              <a:rPr b="1" i="0" lang="en-GB" sz="4400" u="none" cap="none" strike="noStrike">
                <a:solidFill>
                  <a:srgbClr val="059669"/>
                </a:solidFill>
                <a:latin typeface="Georgia"/>
                <a:ea typeface="Georgia"/>
                <a:cs typeface="Georgia"/>
                <a:sym typeface="Georgia"/>
              </a:rPr>
              <a:t>6.9%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640080" y="182880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Avg. Deviation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640080" y="210312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from mean workload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3429000" y="1097280"/>
            <a:ext cx="25146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3429000" y="1188720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4400"/>
              <a:buFont typeface="Georgia"/>
              <a:buNone/>
            </a:pPr>
            <a:r>
              <a:rPr b="1" i="0" lang="en-GB" sz="4400" u="none" cap="none" strike="noStrike">
                <a:solidFill>
                  <a:srgbClr val="3B82F6"/>
                </a:solidFill>
                <a:latin typeface="Georgia"/>
                <a:ea typeface="Georgia"/>
                <a:cs typeface="Georgia"/>
                <a:sym typeface="Georgia"/>
              </a:rPr>
              <a:t>36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3429000" y="182880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Preference Score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3429000" y="210312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out of 40 (90%)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6217920" y="1097280"/>
            <a:ext cx="25146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6217920" y="1188720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400"/>
              <a:buFont typeface="Georgia"/>
              <a:buNone/>
            </a:pPr>
            <a:r>
              <a:rPr b="1" i="0" lang="en-GB" sz="44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57.3%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6217920" y="182880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Avg. Relative Workload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6217920" y="210312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across all tutors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640080" y="2834640"/>
            <a:ext cx="7863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640080" y="2834640"/>
            <a:ext cx="64008" cy="2011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960120" y="2926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960120" y="3246120"/>
            <a:ext cx="73152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GB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 of 10 tutors assigned new students; workloads range from 37.5% to 66.7% of capacity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GB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A005 &amp; A007 receive no new students — already at 66.7% and 62.5% from existing load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GB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A001 is the outlier (37.5%) — highest capacity (8) but prefers East branch, where only 4/20 students study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GB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Preference score drops from 39 → 36 compared to Scenario A — expected trade-off for fairer distribution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45"/>
              </a:buClr>
              <a:buSzPts val="3200"/>
              <a:buFont typeface="Georgia"/>
              <a:buNone/>
            </a:pPr>
            <a:r>
              <a:rPr b="1" i="0" lang="en-GB" sz="3200" u="none" cap="none" strike="noStrike">
                <a:solidFill>
                  <a:srgbClr val="141C45"/>
                </a:solidFill>
                <a:latin typeface="Georgia"/>
                <a:ea typeface="Georgia"/>
                <a:cs typeface="Georgia"/>
                <a:sym typeface="Georgia"/>
              </a:rPr>
              <a:t>Weight Selection &amp; Sensitivity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640080" y="1097280"/>
            <a:ext cx="3794760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640080" y="1097280"/>
            <a:ext cx="64008" cy="3246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960120" y="11887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500"/>
              <a:buFont typeface="Calibri"/>
              <a:buNone/>
            </a:pPr>
            <a:r>
              <a:rPr b="1" i="0" lang="en-GB" sz="15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960120" y="1554480"/>
            <a:ext cx="32461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GB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Linear </a:t>
            </a:r>
            <a:r>
              <a:rPr lang="en-GB" sz="12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scalarisation </a:t>
            </a:r>
            <a:r>
              <a:rPr b="0" i="0" lang="en-GB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with α ∈ [0, 1] to combine dual objectives into </a:t>
            </a:r>
            <a:r>
              <a:rPr lang="en-GB" sz="12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single objective problem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GB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Both metrics normalised to [0, 1] so α represents true relative importance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GB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Scenario B: F̃ was ~10× smaller than P̃, so scaled for comparable influence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GB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α swept from 0 to 1 in steps of 0.05 to map the Pareto frontier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4709160" y="1097280"/>
            <a:ext cx="3794760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4709160" y="1097280"/>
            <a:ext cx="64008" cy="3246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5029200" y="117043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Scenario B — Pareto Frontier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4" name="Google Shape;2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040" y="1463040"/>
            <a:ext cx="3474720" cy="196596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/>
          <p:nvPr/>
        </p:nvSpPr>
        <p:spPr>
          <a:xfrm>
            <a:off x="5029200" y="35204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Three distinct optimal solutions as α varies.</a:t>
            </a:r>
            <a:endParaRPr b="0" i="0" sz="11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Scenario A is fully robust — same result for all α.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45"/>
              </a:buClr>
              <a:buSzPts val="3200"/>
              <a:buFont typeface="Georgia"/>
              <a:buNone/>
            </a:pPr>
            <a:r>
              <a:rPr b="1" i="0" lang="en-GB" sz="3200" u="none" cap="none" strike="noStrike">
                <a:solidFill>
                  <a:srgbClr val="141C45"/>
                </a:solidFill>
                <a:latin typeface="Georgia"/>
                <a:ea typeface="Georgia"/>
                <a:cs typeface="Georgia"/>
                <a:sym typeface="Georgia"/>
              </a:rPr>
              <a:t>Robustness of Modelling Choices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640080" y="1051560"/>
            <a:ext cx="3794760" cy="3794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640080" y="1051560"/>
            <a:ext cx="64008" cy="3794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960120" y="114300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500"/>
              <a:buFont typeface="Calibri"/>
              <a:buNone/>
            </a:pPr>
            <a:r>
              <a:rPr b="1" i="0" lang="en-GB" sz="15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Preference Scoring Metric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960120" y="14630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Original: 1st choice = 2, 2nd = 1, other = 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6" name="Google Shape;256;p23"/>
          <p:cNvGraphicFramePr/>
          <p:nvPr/>
        </p:nvGraphicFramePr>
        <p:xfrm>
          <a:off x="96012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{159272E7-9423-4602-AC7F-493D05C1132A}</a:tableStyleId>
              </a:tblPr>
              <a:tblGrid>
                <a:gridCol w="1051550"/>
                <a:gridCol w="1097275"/>
                <a:gridCol w="109727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Scheme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C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 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C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 B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C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/ 1 / 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(original)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tutors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P̃ = 97.5%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F̃ = 0.069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P̃ = 90%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/ 2 / 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(alt. weighting)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tutors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P̃ = 95%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F̃ = 0.069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P̃ = 89%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/ 0 / 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(1st only)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tutors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P̃ = 95%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F̃ = 0.069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P̃ = 85%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preencoded.png" id="257" name="Google Shape;2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37033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/>
          <p:nvPr/>
        </p:nvSpPr>
        <p:spPr>
          <a:xfrm>
            <a:off x="1280160" y="370332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Scenario A: </a:t>
            </a:r>
            <a:r>
              <a:rPr b="0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Identical solution across all schemes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9" name="Google Shape;25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40233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/>
          <p:nvPr/>
        </p:nvSpPr>
        <p:spPr>
          <a:xfrm>
            <a:off x="1280160" y="397764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Scenario B: </a:t>
            </a:r>
            <a:r>
              <a:rPr b="0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Same F̃ and per-tutor student counts; only minor student shuffles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4709160" y="1051560"/>
            <a:ext cx="3794760" cy="3794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4709160" y="1051560"/>
            <a:ext cx="64008" cy="3794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5029200" y="114300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500"/>
              <a:buFont typeface="Calibri"/>
              <a:buNone/>
            </a:pPr>
            <a:r>
              <a:rPr b="1" i="0" lang="en-GB" sz="15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Workload Balancing Metric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5029200" y="14630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Original: mean absolute deviation of relative workload (L/MOC)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5029200" y="1993392"/>
            <a:ext cx="164592" cy="16459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3"/>
          <p:cNvSpPr/>
          <p:nvPr/>
        </p:nvSpPr>
        <p:spPr>
          <a:xfrm>
            <a:off x="5303520" y="196596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Relative workload (chosen)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5303520" y="2167128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45"/>
              </a:buClr>
              <a:buSzPts val="1000"/>
              <a:buFont typeface="Consolas"/>
              <a:buNone/>
            </a:pPr>
            <a:r>
              <a:rPr b="0" i="0" lang="en-GB" sz="1000" u="none" cap="none" strike="noStrike">
                <a:solidFill>
                  <a:srgbClr val="141C45"/>
                </a:solidFill>
                <a:latin typeface="Consolas"/>
                <a:ea typeface="Consolas"/>
                <a:cs typeface="Consolas"/>
                <a:sym typeface="Consolas"/>
              </a:rPr>
              <a:t>P̃ = 90%, F̃ = 0.069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5303520" y="233172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Best balance — accounts for tutor capacity differences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5029200" y="2615184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5303520" y="2587752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Absolute workload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5303520" y="2788920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45"/>
              </a:buClr>
              <a:buSzPts val="1000"/>
              <a:buFont typeface="Consolas"/>
              <a:buNone/>
            </a:pPr>
            <a:r>
              <a:rPr b="0" i="0" lang="en-GB" sz="1000" u="none" cap="none" strike="noStrike">
                <a:solidFill>
                  <a:srgbClr val="141C45"/>
                </a:solidFill>
                <a:latin typeface="Consolas"/>
                <a:ea typeface="Consolas"/>
                <a:cs typeface="Consolas"/>
                <a:sym typeface="Consolas"/>
              </a:rPr>
              <a:t>P̃ = 87.5%, counts: 2–5 students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5303520" y="2953512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Slightly worse preference; ignores capacity differences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5029200" y="3236976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3"/>
          <p:cNvSpPr/>
          <p:nvPr/>
        </p:nvSpPr>
        <p:spPr>
          <a:xfrm>
            <a:off x="5303520" y="3209544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Min-max workload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5303520" y="3410712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45"/>
              </a:buClr>
              <a:buSzPts val="1000"/>
              <a:buFont typeface="Consolas"/>
              <a:buNone/>
            </a:pPr>
            <a:r>
              <a:rPr b="0" i="0" lang="en-GB" sz="1000" u="none" cap="none" strike="noStrike">
                <a:solidFill>
                  <a:srgbClr val="141C45"/>
                </a:solidFill>
                <a:latin typeface="Consolas"/>
                <a:ea typeface="Consolas"/>
                <a:cs typeface="Consolas"/>
                <a:sym typeface="Consolas"/>
              </a:rPr>
              <a:t>P̃ = 97.5%, but 6 tutors idle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5303520" y="3575304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 preference but poor balance — ignores under-loaded tutors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7" name="Google Shape;2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39776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3"/>
          <p:cNvSpPr/>
          <p:nvPr/>
        </p:nvSpPr>
        <p:spPr>
          <a:xfrm>
            <a:off x="5349240" y="397764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Relative workload metric gives the best trade-off between fairness and preference.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45"/>
              </a:buClr>
              <a:buSzPts val="3200"/>
              <a:buFont typeface="Georgia"/>
              <a:buNone/>
            </a:pPr>
            <a:r>
              <a:rPr b="1" i="0" lang="en-GB" sz="3200" u="none" cap="none" strike="noStrike">
                <a:solidFill>
                  <a:srgbClr val="141C45"/>
                </a:solidFill>
                <a:latin typeface="Georgia"/>
                <a:ea typeface="Georgia"/>
                <a:cs typeface="Georgia"/>
                <a:sym typeface="Georgia"/>
              </a:rPr>
              <a:t>Solver Configuration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6" name="Google Shape;28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188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/>
          <p:cNvSpPr/>
          <p:nvPr/>
        </p:nvSpPr>
        <p:spPr>
          <a:xfrm>
            <a:off x="1325880" y="10972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45"/>
              </a:buClr>
              <a:buSzPts val="1250"/>
              <a:buFont typeface="Consolas"/>
              <a:buNone/>
            </a:pPr>
            <a:r>
              <a:rPr b="1" i="0" lang="en-GB" sz="1250" u="none" cap="none" strike="noStrike">
                <a:solidFill>
                  <a:srgbClr val="141C45"/>
                </a:solidFill>
                <a:latin typeface="Consolas"/>
                <a:ea typeface="Consolas"/>
                <a:cs typeface="Consolas"/>
                <a:sym typeface="Consolas"/>
              </a:rPr>
              <a:t>Solver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1325880" y="137160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IBM CPLEX Community Edition via docplex Python API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640080" y="1801368"/>
            <a:ext cx="78638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0" name="Google Shape;29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93852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4"/>
          <p:cNvSpPr/>
          <p:nvPr/>
        </p:nvSpPr>
        <p:spPr>
          <a:xfrm>
            <a:off x="1325880" y="184708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45"/>
              </a:buClr>
              <a:buSzPts val="1250"/>
              <a:buFont typeface="Consolas"/>
              <a:buNone/>
            </a:pPr>
            <a:r>
              <a:rPr b="1" i="0" lang="en-GB" sz="1250" u="none" cap="none" strike="noStrike">
                <a:solidFill>
                  <a:srgbClr val="141C45"/>
                </a:solidFill>
                <a:latin typeface="Consolas"/>
                <a:ea typeface="Consolas"/>
                <a:cs typeface="Consolas"/>
                <a:sym typeface="Consolas"/>
              </a:rPr>
              <a:t>Problem Type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1325880" y="2121408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Mixed-Integer Linear Program (MILP) — binary x(s,t) and y(t), continuous d(t)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640080" y="2551176"/>
            <a:ext cx="78638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4" name="Google Shape;29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688336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4"/>
          <p:cNvSpPr/>
          <p:nvPr/>
        </p:nvSpPr>
        <p:spPr>
          <a:xfrm>
            <a:off x="1325880" y="259689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45"/>
              </a:buClr>
              <a:buSzPts val="1250"/>
              <a:buFont typeface="Consolas"/>
              <a:buNone/>
            </a:pPr>
            <a:r>
              <a:rPr b="1" i="0" lang="en-GB" sz="1250" u="none" cap="none" strike="noStrike">
                <a:solidFill>
                  <a:srgbClr val="141C45"/>
                </a:solidFill>
                <a:latin typeface="Consolas"/>
                <a:ea typeface="Consolas"/>
                <a:cs typeface="Consolas"/>
                <a:sym typeface="Consolas"/>
              </a:rPr>
              <a:t>parameters.advance = 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1325880" y="287121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Uses advanced start (warm start). Helps CPLEX find good feasible solutions faster by reusing prior basis information when re-solving with different α values.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640080" y="3300984"/>
            <a:ext cx="78638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8" name="Google Shape;29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3438144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4"/>
          <p:cNvSpPr/>
          <p:nvPr/>
        </p:nvSpPr>
        <p:spPr>
          <a:xfrm>
            <a:off x="1325880" y="334670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45"/>
              </a:buClr>
              <a:buSzPts val="1250"/>
              <a:buFont typeface="Consolas"/>
              <a:buNone/>
            </a:pPr>
            <a:r>
              <a:rPr b="1" i="0" lang="en-GB" sz="1250" u="none" cap="none" strike="noStrike">
                <a:solidFill>
                  <a:srgbClr val="141C45"/>
                </a:solidFill>
                <a:latin typeface="Consolas"/>
                <a:ea typeface="Consolas"/>
                <a:cs typeface="Consolas"/>
                <a:sym typeface="Consolas"/>
              </a:rPr>
              <a:t>parameters.threads = 10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1325880" y="3621024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Multi-threaded solve for the sensitivity analysis loop (21 solves per scenario). Reduces wall-clock time from minutes to seconds.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4"/>
          <p:cNvSpPr/>
          <p:nvPr/>
        </p:nvSpPr>
        <p:spPr>
          <a:xfrm>
            <a:off x="640080" y="4050792"/>
            <a:ext cx="78638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2" name="Google Shape;3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418795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4"/>
          <p:cNvSpPr/>
          <p:nvPr/>
        </p:nvSpPr>
        <p:spPr>
          <a:xfrm>
            <a:off x="1325880" y="40965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C45"/>
              </a:buClr>
              <a:buSzPts val="1250"/>
              <a:buFont typeface="Consolas"/>
              <a:buNone/>
            </a:pPr>
            <a:r>
              <a:rPr b="1" i="0" lang="en-GB" sz="1250" u="none" cap="none" strike="noStrike">
                <a:solidFill>
                  <a:srgbClr val="141C45"/>
                </a:solidFill>
                <a:latin typeface="Consolas"/>
                <a:ea typeface="Consolas"/>
                <a:cs typeface="Consolas"/>
                <a:sym typeface="Consolas"/>
              </a:rPr>
              <a:t>time_limit = 60s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4"/>
          <p:cNvSpPr/>
          <p:nvPr/>
        </p:nvSpPr>
        <p:spPr>
          <a:xfrm>
            <a:off x="1325880" y="4370832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Applied during sensitivity analysis for Scenario B, where solve times increase at higher α. Ensures the sweep completes in reasonable time.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5"/>
          <p:cNvSpPr/>
          <p:nvPr/>
        </p:nvSpPr>
        <p:spPr>
          <a:xfrm>
            <a:off x="640020" y="1040075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i="0" lang="en-GB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Summary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2" name="Google Shape;3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20" y="169844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5"/>
          <p:cNvSpPr/>
          <p:nvPr/>
        </p:nvSpPr>
        <p:spPr>
          <a:xfrm>
            <a:off x="1005780" y="1680155"/>
            <a:ext cx="7498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Tutor assignment formulated as a weighted bi-objective MILP, solved to global optimality with CPLEX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4" name="Google Shape;31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20" y="220136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5"/>
          <p:cNvSpPr/>
          <p:nvPr/>
        </p:nvSpPr>
        <p:spPr>
          <a:xfrm>
            <a:off x="1005780" y="2183075"/>
            <a:ext cx="7498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Scenario A concentrates load on 4 tutors while achieving 97.5% preference satisfaction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6" name="Google Shape;31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20" y="270428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5"/>
          <p:cNvSpPr/>
          <p:nvPr/>
        </p:nvSpPr>
        <p:spPr>
          <a:xfrm>
            <a:off x="1005780" y="2685995"/>
            <a:ext cx="7498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Scenario B distributes workload across 8 tutors (avg. 6.9% deviation) at 90% preference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8" name="Google Shape;31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20" y="320720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5"/>
          <p:cNvSpPr/>
          <p:nvPr/>
        </p:nvSpPr>
        <p:spPr>
          <a:xfrm>
            <a:off x="1005780" y="3188915"/>
            <a:ext cx="7498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Sensitivity analysis confirms robustness: Scenario A is invariant to α; Scenario B yields a clean 3-point Pareto frontier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0" name="Google Shape;32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20" y="371012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5"/>
          <p:cNvSpPr/>
          <p:nvPr/>
        </p:nvSpPr>
        <p:spPr>
          <a:xfrm>
            <a:off x="1005780" y="3691835"/>
            <a:ext cx="7498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Choice of relative workload balancing metric and preference scoring scheme both validated against alternatives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/>
          <p:nvPr/>
        </p:nvSpPr>
        <p:spPr>
          <a:xfrm>
            <a:off x="731520" y="4663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Georgia"/>
              <a:buNone/>
            </a:pPr>
            <a:r>
              <a:rPr b="0" i="1" lang="en-GB" sz="1600" u="none" cap="none" strike="noStrike">
                <a:solidFill>
                  <a:srgbClr val="64748B"/>
                </a:solidFill>
                <a:latin typeface="Georgia"/>
                <a:ea typeface="Georgia"/>
                <a:cs typeface="Georgia"/>
                <a:sym typeface="Georgia"/>
              </a:rPr>
              <a:t>Thank you!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